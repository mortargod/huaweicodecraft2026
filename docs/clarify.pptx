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EC4EB-0333-4FF5-A547-DAFEE308E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F5B2B4-8831-4F21-B14E-36DF55D7A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286FAA-4B7F-4EA1-B131-186DF522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F4255-BF59-45B4-B1BA-D01D49755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4E810-93A8-4DC1-954F-B00A86DF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51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BD693-8436-4440-A4A7-88A0CB52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121566-692C-40F8-A24E-C639B3B1E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C02182-E337-425F-ADB5-D0589EA9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A86743-E102-4827-A299-0679DFBC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6357B2-A560-4D9E-866B-3F28CFD2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64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16C90-FA07-488C-8876-5B9B039F6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836B0F-A0A8-4C0C-BF53-DE1C71A60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E12B4C-465C-4114-B345-95677C72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E7D27D-1101-4028-AB8B-209B7EB5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3B72E6-C6DC-4344-A00D-2EF4BBAE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890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98903-39B3-4381-A636-0CD9842C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7DFED5-E7BF-4546-BD20-9B13417AC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B4A890-57BB-4F55-B8EF-F71F3BEE1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A6957A-6758-4A9D-A404-67D35BA2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ADDFFC-EBFB-40B0-B7DD-811D9DD1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56627E-CC93-413B-8E12-B3169C6A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27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7DE97-B1DF-4297-8F3F-24F63A90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DEBC2C-A4E1-461D-9125-8A6F8645F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909ABA-B044-45C7-BA12-BA3906A6A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0FADC6-7566-4AA2-ABE8-4BCD42F99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C8B38D-9525-43E2-A5C2-FEDDF1138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68C6FF-190C-4617-B5E4-025166A5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4934A7-C160-49A7-BA0C-7242082AD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5B93FB-6457-45BA-BD43-62D45329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55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1E8B8-FDB3-4CEF-946E-CF3713AE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3A52D8-8616-4C67-BA44-7F96E273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DD4E7B-2A2D-46F4-8FB5-FB2D7B67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216184-DBC9-4F1E-BD6A-43D7B80B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4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9EE4A6-7068-4FF8-A930-1FBFAD80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5AA117-0E9D-49AF-9E2D-9F178ED2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32E664-AB29-4EC5-874A-04DB3203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14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86F26-DD16-4ADD-BD9E-19A8C0C4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B8ECD3-1EC3-4AE7-A433-33B9964DE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4AD260-C7AE-4D17-8B16-B6F7DC8B9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6600ED-54AC-41C0-B865-F9CC953A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D94D1E-B44F-4740-9DE0-A31E43DA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0432EE-8613-47C3-A821-643F7232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639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87E3-338A-457A-B162-6B1012EF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CD3ACA-7471-47C7-8C98-272CD451F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590043-12E5-47FB-9613-E89DB0F59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E7EA33-FA23-49C5-A9B2-DC4177548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1BAB6-1C73-4471-AF83-63D66C8A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76A4B1-CF65-4E6F-A6EE-C1325151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18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32151-58CF-49F5-99AB-06CC75C4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D85577-44A5-444F-9BFA-87F388CA2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9A07F-819C-4DC9-A453-A409965C4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ADB118-C5DC-4B26-B6D8-DEED4785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8122A-FF82-4A1F-BD22-DA640B76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42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DE3CAB-B0A7-45BC-8E34-FE6027243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9EAD1D-EF94-40E0-9995-A7DDB99A0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DEF522-A39F-45FC-98BB-F6A41F3F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8ED49-3557-4D25-887B-9F06A1E7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32269A-FFCF-4519-B525-0676D5B6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60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EA484A-9103-4E83-B420-B1154890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0E7E7D-67FA-4DE2-84AF-C2601A253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D02C82-0C17-45BE-9DA1-C1EFC14B3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2CDE-4E1F-4470-896E-34AB9D05A83C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EEC79B-2D01-4298-A330-A8F416D05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BBB4EC-6343-412B-8041-1893D76C9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C555-BC56-472B-94A9-CD16C7C5D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9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21E5C08-E0AC-4308-805E-F917145C3268}"/>
              </a:ext>
            </a:extLst>
          </p:cNvPr>
          <p:cNvSpPr/>
          <p:nvPr/>
        </p:nvSpPr>
        <p:spPr>
          <a:xfrm>
            <a:off x="1845429" y="1872313"/>
            <a:ext cx="3277590" cy="2040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75142C-71E7-4B75-B425-D03A4B4E0309}"/>
              </a:ext>
            </a:extLst>
          </p:cNvPr>
          <p:cNvSpPr/>
          <p:nvPr/>
        </p:nvSpPr>
        <p:spPr>
          <a:xfrm>
            <a:off x="5882883" y="1862735"/>
            <a:ext cx="2378144" cy="2061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B46E2A-2646-471A-9D8F-16CB6E7092B1}"/>
              </a:ext>
            </a:extLst>
          </p:cNvPr>
          <p:cNvSpPr txBox="1"/>
          <p:nvPr/>
        </p:nvSpPr>
        <p:spPr>
          <a:xfrm>
            <a:off x="5750765" y="1086568"/>
            <a:ext cx="4475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在线推理：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业务数据实时推理，只保留量化后的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Q(w)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和激活量化辅助参数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activation_state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实时在线量化，并实时计算推理结果。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524ACA-CD5F-468E-8D31-85EE813380AD}"/>
              </a:ext>
            </a:extLst>
          </p:cNvPr>
          <p:cNvSpPr txBox="1"/>
          <p:nvPr/>
        </p:nvSpPr>
        <p:spPr>
          <a:xfrm>
            <a:off x="1695507" y="1103920"/>
            <a:ext cx="3868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离线量化及校准：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采用少量真实业务校准数据集，离线量化得到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Q(w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），以及选择性生成在线激活量化辅助参数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activation_state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76DAAD-E19F-4BBB-936E-E592C3ECB169}"/>
              </a:ext>
            </a:extLst>
          </p:cNvPr>
          <p:cNvSpPr/>
          <p:nvPr/>
        </p:nvSpPr>
        <p:spPr>
          <a:xfrm>
            <a:off x="496208" y="2798123"/>
            <a:ext cx="679694" cy="430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8BB57D8-433C-4938-9E25-0EBB3654FB0E}"/>
              </a:ext>
            </a:extLst>
          </p:cNvPr>
          <p:cNvSpPr/>
          <p:nvPr/>
        </p:nvSpPr>
        <p:spPr>
          <a:xfrm>
            <a:off x="1407441" y="2897703"/>
            <a:ext cx="184068" cy="219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0EAD42-61AB-458E-BC57-8E62A478A4A8}"/>
              </a:ext>
            </a:extLst>
          </p:cNvPr>
          <p:cNvSpPr/>
          <p:nvPr/>
        </p:nvSpPr>
        <p:spPr>
          <a:xfrm>
            <a:off x="2153730" y="2347448"/>
            <a:ext cx="747354" cy="43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C5D922-D5A3-4A09-B5DD-468A3DCD554F}"/>
              </a:ext>
            </a:extLst>
          </p:cNvPr>
          <p:cNvSpPr/>
          <p:nvPr/>
        </p:nvSpPr>
        <p:spPr>
          <a:xfrm>
            <a:off x="3461131" y="2426123"/>
            <a:ext cx="1540861" cy="111776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E69E23-EDAE-421D-AE5C-B13D68C2D9F9}"/>
              </a:ext>
            </a:extLst>
          </p:cNvPr>
          <p:cNvSpPr/>
          <p:nvPr/>
        </p:nvSpPr>
        <p:spPr>
          <a:xfrm>
            <a:off x="2153730" y="3113407"/>
            <a:ext cx="747354" cy="43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校准集）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D1C02F4-D7EA-4E58-A6FE-F685C4C42D2A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2901084" y="2562688"/>
            <a:ext cx="560047" cy="422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F59D991-6D20-4DE6-B132-AC953FF70BD6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2901084" y="2985005"/>
            <a:ext cx="560047" cy="343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B664BF84-937E-4B3C-B22B-8E7614907118}"/>
              </a:ext>
            </a:extLst>
          </p:cNvPr>
          <p:cNvSpPr txBox="1"/>
          <p:nvPr/>
        </p:nvSpPr>
        <p:spPr>
          <a:xfrm>
            <a:off x="138273" y="3335917"/>
            <a:ext cx="14414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训练好的</a:t>
            </a:r>
            <a:endParaRPr lang="en-US" altLang="zh-CN" sz="1400" dirty="0"/>
          </a:p>
          <a:p>
            <a:pPr algn="ctr"/>
            <a:r>
              <a:rPr lang="zh-CN" altLang="en-US" sz="1400" dirty="0"/>
              <a:t>大模型权重参数</a:t>
            </a:r>
            <a:endParaRPr lang="en-US" altLang="zh-CN" sz="1400" dirty="0"/>
          </a:p>
          <a:p>
            <a:pPr algn="ctr"/>
            <a:r>
              <a:rPr lang="zh-CN" altLang="en-US" sz="1050" dirty="0"/>
              <a:t>（</a:t>
            </a:r>
            <a:r>
              <a:rPr lang="en-US" altLang="zh-CN" sz="1050" dirty="0"/>
              <a:t>NVFP4</a:t>
            </a:r>
            <a:r>
              <a:rPr lang="zh-CN" altLang="en-US" sz="1050" dirty="0"/>
              <a:t>格式）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D23140-8DF1-40A0-9AA3-013682738528}"/>
              </a:ext>
            </a:extLst>
          </p:cNvPr>
          <p:cNvSpPr/>
          <p:nvPr/>
        </p:nvSpPr>
        <p:spPr>
          <a:xfrm>
            <a:off x="2230055" y="3636033"/>
            <a:ext cx="26340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hif4_calibration_and_quantize_weight</a:t>
            </a:r>
            <a:endParaRPr lang="zh-CN" altLang="en-US" sz="12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A783CEB-D463-481D-BAE9-2DDCC07CED22}"/>
              </a:ext>
            </a:extLst>
          </p:cNvPr>
          <p:cNvSpPr/>
          <p:nvPr/>
        </p:nvSpPr>
        <p:spPr>
          <a:xfrm>
            <a:off x="5951798" y="3646785"/>
            <a:ext cx="23791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hif4_dynamic_quantize_activation</a:t>
            </a:r>
            <a:endParaRPr lang="zh-CN" altLang="en-US" sz="12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2528E-A237-4ACD-BF3A-C0DAF6B7E1C0}"/>
              </a:ext>
            </a:extLst>
          </p:cNvPr>
          <p:cNvSpPr/>
          <p:nvPr/>
        </p:nvSpPr>
        <p:spPr>
          <a:xfrm>
            <a:off x="6027771" y="3026718"/>
            <a:ext cx="1264047" cy="4547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</a:rPr>
              <a:t>activation_state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可选）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2FB91B-CA3E-453B-8B53-44C2B9D8B2CD}"/>
              </a:ext>
            </a:extLst>
          </p:cNvPr>
          <p:cNvSpPr/>
          <p:nvPr/>
        </p:nvSpPr>
        <p:spPr>
          <a:xfrm>
            <a:off x="6027772" y="2430325"/>
            <a:ext cx="1264046" cy="430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（测试集）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FE9B6C3-BCA7-44A4-8BBB-C891B28D891E}"/>
              </a:ext>
            </a:extLst>
          </p:cNvPr>
          <p:cNvSpPr/>
          <p:nvPr/>
        </p:nvSpPr>
        <p:spPr>
          <a:xfrm>
            <a:off x="7532765" y="2426123"/>
            <a:ext cx="598431" cy="1020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Q(A)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B6A5F1-2512-4E45-BD0D-89F0D912DB4C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7291818" y="2936471"/>
            <a:ext cx="240947" cy="317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176C5D9-31F5-41E8-931E-F793698A72B6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7291818" y="2645565"/>
            <a:ext cx="240947" cy="290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950A47BA-0FB9-41C0-BE1A-C58611FA4236}"/>
              </a:ext>
            </a:extLst>
          </p:cNvPr>
          <p:cNvSpPr/>
          <p:nvPr/>
        </p:nvSpPr>
        <p:spPr>
          <a:xfrm>
            <a:off x="3556136" y="2562688"/>
            <a:ext cx="1357537" cy="3396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Q(W)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53F2E0-6178-4C9A-A242-890EEB727720}"/>
              </a:ext>
            </a:extLst>
          </p:cNvPr>
          <p:cNvSpPr/>
          <p:nvPr/>
        </p:nvSpPr>
        <p:spPr>
          <a:xfrm>
            <a:off x="3556136" y="3054803"/>
            <a:ext cx="1357537" cy="3396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</a:rPr>
              <a:t>activation_state</a:t>
            </a:r>
            <a:endParaRPr lang="en-US" altLang="zh-CN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(</a:t>
            </a:r>
            <a:r>
              <a:rPr lang="zh-CN" altLang="en-US" sz="1200" b="1" dirty="0">
                <a:solidFill>
                  <a:schemeClr val="tx1"/>
                </a:solidFill>
              </a:rPr>
              <a:t>可选）</a:t>
            </a:r>
            <a:endParaRPr lang="en-US" altLang="zh-CN" sz="1200" b="1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BE35F25-EB6A-4441-B8C2-679B5F300FA3}"/>
              </a:ext>
            </a:extLst>
          </p:cNvPr>
          <p:cNvSpPr/>
          <p:nvPr/>
        </p:nvSpPr>
        <p:spPr>
          <a:xfrm>
            <a:off x="8400924" y="1862734"/>
            <a:ext cx="1907131" cy="2061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B78E232-7259-47C8-A1EA-426A1A537EEB}"/>
              </a:ext>
            </a:extLst>
          </p:cNvPr>
          <p:cNvSpPr/>
          <p:nvPr/>
        </p:nvSpPr>
        <p:spPr>
          <a:xfrm>
            <a:off x="8576967" y="2756830"/>
            <a:ext cx="598431" cy="513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Q(A)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8444BA6-534B-42FE-AB40-A57D5884E1EE}"/>
              </a:ext>
            </a:extLst>
          </p:cNvPr>
          <p:cNvSpPr/>
          <p:nvPr/>
        </p:nvSpPr>
        <p:spPr>
          <a:xfrm>
            <a:off x="9416345" y="2756830"/>
            <a:ext cx="695494" cy="5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Q(W).T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CFF246A-4B1B-4690-98DA-1431F94114F9}"/>
              </a:ext>
            </a:extLst>
          </p:cNvPr>
          <p:cNvSpPr txBox="1"/>
          <p:nvPr/>
        </p:nvSpPr>
        <p:spPr>
          <a:xfrm>
            <a:off x="9137014" y="285400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D931F09-EF6F-4159-8B80-507916D9AD81}"/>
              </a:ext>
            </a:extLst>
          </p:cNvPr>
          <p:cNvSpPr/>
          <p:nvPr/>
        </p:nvSpPr>
        <p:spPr>
          <a:xfrm>
            <a:off x="8580078" y="3646784"/>
            <a:ext cx="15488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 hif4</a:t>
            </a:r>
            <a:r>
              <a:rPr lang="zh-CN" altLang="en-US" sz="1200" dirty="0"/>
              <a:t>低精度推理测试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28D8163-4280-4BF0-AD7D-C22FDB4185D3}"/>
              </a:ext>
            </a:extLst>
          </p:cNvPr>
          <p:cNvSpPr/>
          <p:nvPr/>
        </p:nvSpPr>
        <p:spPr>
          <a:xfrm>
            <a:off x="1781327" y="3974264"/>
            <a:ext cx="3531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activation_state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可参考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SmoothQuant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Qurot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等算法，可以是对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的旋转矩阵、缩放系数、排序矩阵等信息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0FCE80A-1D59-4C8F-95C6-492924ECEA21}"/>
              </a:ext>
            </a:extLst>
          </p:cNvPr>
          <p:cNvSpPr/>
          <p:nvPr/>
        </p:nvSpPr>
        <p:spPr>
          <a:xfrm>
            <a:off x="5750765" y="3994158"/>
            <a:ext cx="4842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真实业务推理时，业务数据实时生成（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），进行在线量化并实时得到推理结果，内存受限，时延要求高，因此原始权重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在该阶段不会保留。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29D8CD4-7C8E-4BBB-A05C-16ECA3A0FA36}"/>
              </a:ext>
            </a:extLst>
          </p:cNvPr>
          <p:cNvSpPr txBox="1"/>
          <p:nvPr/>
        </p:nvSpPr>
        <p:spPr>
          <a:xfrm>
            <a:off x="2281185" y="201956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2FE7F39-8837-44CA-97D9-B947FFA6585B}"/>
              </a:ext>
            </a:extLst>
          </p:cNvPr>
          <p:cNvSpPr txBox="1"/>
          <p:nvPr/>
        </p:nvSpPr>
        <p:spPr>
          <a:xfrm>
            <a:off x="3946730" y="204500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1DAEE38-940F-4612-9600-5B22F6632A94}"/>
              </a:ext>
            </a:extLst>
          </p:cNvPr>
          <p:cNvSpPr txBox="1"/>
          <p:nvPr/>
        </p:nvSpPr>
        <p:spPr>
          <a:xfrm>
            <a:off x="6340004" y="210291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5FA8A6-781C-41E0-AD63-BC36CAFE1A6E}"/>
              </a:ext>
            </a:extLst>
          </p:cNvPr>
          <p:cNvSpPr txBox="1"/>
          <p:nvPr/>
        </p:nvSpPr>
        <p:spPr>
          <a:xfrm>
            <a:off x="7592311" y="2113773"/>
            <a:ext cx="492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93" name="箭头: 右 92">
            <a:extLst>
              <a:ext uri="{FF2B5EF4-FFF2-40B4-BE49-F238E27FC236}">
                <a16:creationId xmlns:a16="http://schemas.microsoft.com/office/drawing/2014/main" id="{AE9FFB5F-716D-4FED-B593-BAA8731158F4}"/>
              </a:ext>
            </a:extLst>
          </p:cNvPr>
          <p:cNvSpPr/>
          <p:nvPr/>
        </p:nvSpPr>
        <p:spPr>
          <a:xfrm>
            <a:off x="5431063" y="2840234"/>
            <a:ext cx="184068" cy="219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4C2AADA-7C13-4B46-9712-510C849709C6}"/>
              </a:ext>
            </a:extLst>
          </p:cNvPr>
          <p:cNvSpPr txBox="1"/>
          <p:nvPr/>
        </p:nvSpPr>
        <p:spPr>
          <a:xfrm>
            <a:off x="1705914" y="549497"/>
            <a:ext cx="938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业务背景：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低精度量化，主要为了降低在线推理阶段的内存占用，提升在线推理速度。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CA28055-D022-4638-BC2D-67C2C60E4EFE}"/>
              </a:ext>
            </a:extLst>
          </p:cNvPr>
          <p:cNvSpPr/>
          <p:nvPr/>
        </p:nvSpPr>
        <p:spPr>
          <a:xfrm>
            <a:off x="1781327" y="4776705"/>
            <a:ext cx="86024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禁止的方法：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之前公告已说明，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不允许以任何形式计算出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A@W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，并利用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A@W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进行拟合反推出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Q(A)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，违背比赛初衷。工作组会对初赛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强的代码进行审核，出现该行为视为弃赛。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提示：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在线推理速度是关键的业务目标，初赛第二阶段会增加测试用例集，另外在决赛阶段会增加性能打分，请大家提前选用高效的算法方案，避免影响最后排名。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0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333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wangbing (R)</dc:creator>
  <cp:lastModifiedBy>shenao (A)</cp:lastModifiedBy>
  <cp:revision>14</cp:revision>
  <dcterms:created xsi:type="dcterms:W3CDTF">2026-08-18T09:34:49Z</dcterms:created>
  <dcterms:modified xsi:type="dcterms:W3CDTF">2026-08-18T12:52:26Z</dcterms:modified>
</cp:coreProperties>
</file>