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F2CDE-4E1F-4470-896E-34AB9D05A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FC555-BC56-472B-94A9-CD16C7C5D87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45429" y="1872313"/>
            <a:ext cx="3277590" cy="2040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882883" y="1862735"/>
            <a:ext cx="2378144" cy="2061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50765" y="1086568"/>
            <a:ext cx="4475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在线推理：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业务数据实时推理，只保留量化后的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Q(w)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和激活量化辅助参数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activation_state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实时在线量化，并实时计算推理结果。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5507" y="1103920"/>
            <a:ext cx="3868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离线量化及校准：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采用少量真实业务校准数据集，离线量化得到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Q(w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），以及选择性生成在线激活量化辅助参数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activation_state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96208" y="2798123"/>
            <a:ext cx="679694" cy="430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11" name="箭头: 右 10"/>
          <p:cNvSpPr/>
          <p:nvPr/>
        </p:nvSpPr>
        <p:spPr>
          <a:xfrm>
            <a:off x="1407441" y="2897703"/>
            <a:ext cx="184068" cy="2196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153730" y="2347448"/>
            <a:ext cx="747354" cy="4304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endParaRPr lang="zh-CN" altLang="en-US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461131" y="2426123"/>
            <a:ext cx="1540861" cy="11177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53730" y="3113407"/>
            <a:ext cx="747354" cy="4304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校准集）</a:t>
            </a:r>
            <a:endParaRPr lang="zh-CN" altLang="en-US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/>
          <p:cNvCxnSpPr>
            <a:stCxn id="12" idx="3"/>
            <a:endCxn id="13" idx="1"/>
          </p:cNvCxnSpPr>
          <p:nvPr/>
        </p:nvCxnSpPr>
        <p:spPr>
          <a:xfrm>
            <a:off x="2901084" y="2562688"/>
            <a:ext cx="560047" cy="422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4" idx="3"/>
            <a:endCxn id="13" idx="1"/>
          </p:cNvCxnSpPr>
          <p:nvPr/>
        </p:nvCxnSpPr>
        <p:spPr>
          <a:xfrm flipV="1">
            <a:off x="2901084" y="2985005"/>
            <a:ext cx="560047" cy="343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38273" y="3335917"/>
            <a:ext cx="14414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/>
              <a:t>训练好的</a:t>
            </a:r>
            <a:endParaRPr lang="en-US" altLang="zh-CN" sz="1400" dirty="0"/>
          </a:p>
          <a:p>
            <a:pPr algn="ctr"/>
            <a:r>
              <a:rPr lang="zh-CN" altLang="en-US" sz="1400" dirty="0"/>
              <a:t>大模型权重参数</a:t>
            </a:r>
            <a:endParaRPr lang="en-US" altLang="zh-CN" sz="1400" dirty="0"/>
          </a:p>
          <a:p>
            <a:pPr algn="ctr"/>
            <a:r>
              <a:rPr lang="zh-CN" altLang="en-US" sz="1050" dirty="0"/>
              <a:t>（</a:t>
            </a:r>
            <a:r>
              <a:rPr lang="en-US" altLang="zh-CN" sz="1050" dirty="0"/>
              <a:t>NVFP4</a:t>
            </a:r>
            <a:r>
              <a:rPr lang="zh-CN" altLang="en-US" sz="1050" dirty="0"/>
              <a:t>格式）</a:t>
            </a:r>
            <a:endParaRPr lang="zh-CN" altLang="en-US" sz="1050" dirty="0"/>
          </a:p>
        </p:txBody>
      </p:sp>
      <p:sp>
        <p:nvSpPr>
          <p:cNvPr id="26" name="矩形 25"/>
          <p:cNvSpPr/>
          <p:nvPr/>
        </p:nvSpPr>
        <p:spPr>
          <a:xfrm>
            <a:off x="2230055" y="3636033"/>
            <a:ext cx="26340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hif4_calibration_and_quantize_weight</a:t>
            </a:r>
            <a:endParaRPr lang="zh-CN" altLang="en-US" sz="1200" dirty="0"/>
          </a:p>
        </p:txBody>
      </p:sp>
      <p:sp>
        <p:nvSpPr>
          <p:cNvPr id="33" name="矩形 32"/>
          <p:cNvSpPr/>
          <p:nvPr/>
        </p:nvSpPr>
        <p:spPr>
          <a:xfrm>
            <a:off x="5951798" y="3646785"/>
            <a:ext cx="23791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hif4_dynamic_quantize_activation</a:t>
            </a:r>
            <a:endParaRPr lang="zh-CN" altLang="en-US" sz="1200" dirty="0"/>
          </a:p>
        </p:txBody>
      </p:sp>
      <p:sp>
        <p:nvSpPr>
          <p:cNvPr id="35" name="矩形 34"/>
          <p:cNvSpPr/>
          <p:nvPr/>
        </p:nvSpPr>
        <p:spPr>
          <a:xfrm>
            <a:off x="6027771" y="3026718"/>
            <a:ext cx="1264047" cy="4547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</a:rPr>
              <a:t>activation_state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可选）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027772" y="2430325"/>
            <a:ext cx="1264046" cy="4304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（测试集）</a:t>
            </a:r>
            <a:endParaRPr lang="en-US" altLang="zh-CN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532765" y="2426123"/>
            <a:ext cx="598431" cy="10206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Q(A)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箭头连接符 38"/>
          <p:cNvCxnSpPr>
            <a:stCxn id="35" idx="3"/>
            <a:endCxn id="37" idx="1"/>
          </p:cNvCxnSpPr>
          <p:nvPr/>
        </p:nvCxnSpPr>
        <p:spPr>
          <a:xfrm flipV="1">
            <a:off x="7291818" y="2936471"/>
            <a:ext cx="240947" cy="317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36" idx="3"/>
            <a:endCxn id="37" idx="1"/>
          </p:cNvCxnSpPr>
          <p:nvPr/>
        </p:nvCxnSpPr>
        <p:spPr>
          <a:xfrm>
            <a:off x="7291818" y="2645565"/>
            <a:ext cx="240947" cy="290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3556136" y="2562688"/>
            <a:ext cx="1357537" cy="3396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Q(W)</a:t>
            </a:r>
            <a:endParaRPr lang="zh-CN" altLang="en-US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556136" y="3054803"/>
            <a:ext cx="1357537" cy="3396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</a:rPr>
              <a:t>activation_state</a:t>
            </a:r>
            <a:endParaRPr lang="en-US" altLang="zh-CN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(</a:t>
            </a:r>
            <a:r>
              <a:rPr lang="zh-CN" altLang="en-US" sz="1200" b="1" dirty="0">
                <a:solidFill>
                  <a:schemeClr val="tx1"/>
                </a:solidFill>
              </a:rPr>
              <a:t>可选）</a:t>
            </a:r>
            <a:endParaRPr lang="en-US" altLang="zh-CN" sz="1200" b="1" dirty="0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400924" y="1862734"/>
            <a:ext cx="1907131" cy="2061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576967" y="2756830"/>
            <a:ext cx="598431" cy="5130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Q(A)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416345" y="2756830"/>
            <a:ext cx="695494" cy="513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Q(W).T</a:t>
            </a:r>
            <a:endParaRPr lang="zh-CN" altLang="en-US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9137014" y="285400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56" name="矩形 55"/>
          <p:cNvSpPr/>
          <p:nvPr/>
        </p:nvSpPr>
        <p:spPr>
          <a:xfrm>
            <a:off x="8580078" y="3646784"/>
            <a:ext cx="154882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 hif4</a:t>
            </a:r>
            <a:r>
              <a:rPr lang="zh-CN" altLang="en-US" sz="1200" dirty="0"/>
              <a:t>低精度推理测试</a:t>
            </a:r>
            <a:endParaRPr lang="zh-CN" altLang="en-US" sz="1200" dirty="0"/>
          </a:p>
        </p:txBody>
      </p:sp>
      <p:sp>
        <p:nvSpPr>
          <p:cNvPr id="57" name="矩形 56"/>
          <p:cNvSpPr/>
          <p:nvPr/>
        </p:nvSpPr>
        <p:spPr>
          <a:xfrm>
            <a:off x="1781327" y="3974264"/>
            <a:ext cx="35315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activation_state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可参考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SmoothQuant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Qurot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等算法，可以是对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的旋转矩阵、缩放系数、排序矩阵等信息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750765" y="3994158"/>
            <a:ext cx="48420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真实业务推理时，业务数据实时生成（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），进行在线量化并实时得到推理结果，内存受限，时延要求高，因此原始权重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在该阶段不会保留。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2281185" y="201956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946730" y="204500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6340004" y="210291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7592311" y="2113773"/>
            <a:ext cx="4924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箭头: 右 92"/>
          <p:cNvSpPr/>
          <p:nvPr/>
        </p:nvSpPr>
        <p:spPr>
          <a:xfrm>
            <a:off x="5431063" y="2840234"/>
            <a:ext cx="184068" cy="2196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文本框 93"/>
          <p:cNvSpPr txBox="1"/>
          <p:nvPr/>
        </p:nvSpPr>
        <p:spPr>
          <a:xfrm>
            <a:off x="1705914" y="549497"/>
            <a:ext cx="938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业务背景：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4bit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低精度量化，主要为了降低在线推理阶段的内存占用，提升在线推理速度。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1781327" y="4776705"/>
            <a:ext cx="8602481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Linear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拿分的方法：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允许以任何形式计算出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A@W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，并利用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A@W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进行拟合反推出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Q(A)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</Words>
  <Application>WPS 演示</Application>
  <PresentationFormat>宽屏</PresentationFormat>
  <Paragraphs>55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方正雅意黑 GB18030L2</vt:lpstr>
      <vt:lpstr>等线</vt:lpstr>
      <vt:lpstr>汉仪中等线KW</vt:lpstr>
      <vt:lpstr>宋体</vt:lpstr>
      <vt:lpstr>Arial Unicode MS</vt:lpstr>
      <vt:lpstr>等线 Light</vt:lpstr>
      <vt:lpstr>Calibri</vt:lpstr>
      <vt:lpstr>Helvetica Neue</vt:lpstr>
      <vt:lpstr>汉仪书宋二KW</vt:lpstr>
      <vt:lpstr>微软雅黑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wangbing (R)</dc:creator>
  <cp:lastModifiedBy>ee</cp:lastModifiedBy>
  <cp:revision>15</cp:revision>
  <dcterms:created xsi:type="dcterms:W3CDTF">2026-09-07T01:38:10Z</dcterms:created>
  <dcterms:modified xsi:type="dcterms:W3CDTF">2026-09-07T01:38:10Z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0CB803B81993D51D82159E6AF8CF4A2D_42</vt:lpwstr>
  </property>
  <property fmtid="{D5CDD505-2E9C-101B-9397-08002B2CF9AE}" pid="3" name="KSOProductBuildVer">
    <vt:lpwstr>2052-12.1.26055.26055</vt:lpwstr>
  </property>
</Properties>
</file>